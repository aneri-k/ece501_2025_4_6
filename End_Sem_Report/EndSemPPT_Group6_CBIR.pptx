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Helvetica Neue"/>
      <p:regular r:id="rId17"/>
      <p:bold r:id="rId18"/>
      <p:italic r:id="rId19"/>
      <p:boldItalic r:id="rId20"/>
    </p:embeddedFont>
    <p:embeddedFont>
      <p:font typeface="Helvetica Neue Light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59A0DCC-EACA-4E23-A09E-4218D214C90B}">
  <a:tblStyle styleId="{359A0DCC-EACA-4E23-A09E-4218D214C90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-boldItalic.fntdata"/><Relationship Id="rId11" Type="http://schemas.openxmlformats.org/officeDocument/2006/relationships/slide" Target="slides/slide6.xml"/><Relationship Id="rId22" Type="http://schemas.openxmlformats.org/officeDocument/2006/relationships/font" Target="fonts/HelveticaNeueLight-bold.fntdata"/><Relationship Id="rId10" Type="http://schemas.openxmlformats.org/officeDocument/2006/relationships/slide" Target="slides/slide5.xml"/><Relationship Id="rId21" Type="http://schemas.openxmlformats.org/officeDocument/2006/relationships/font" Target="fonts/HelveticaNeueLight-regular.fntdata"/><Relationship Id="rId13" Type="http://schemas.openxmlformats.org/officeDocument/2006/relationships/slide" Target="slides/slide8.xml"/><Relationship Id="rId24" Type="http://schemas.openxmlformats.org/officeDocument/2006/relationships/font" Target="fonts/HelveticaNeueLight-boldItalic.fntdata"/><Relationship Id="rId12" Type="http://schemas.openxmlformats.org/officeDocument/2006/relationships/slide" Target="slides/slide7.xml"/><Relationship Id="rId23" Type="http://schemas.openxmlformats.org/officeDocument/2006/relationships/font" Target="fonts/HelveticaNeueLight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HelveticaNeue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HelveticaNeue-italic.fntdata"/><Relationship Id="rId6" Type="http://schemas.openxmlformats.org/officeDocument/2006/relationships/slide" Target="slides/slide1.xml"/><Relationship Id="rId18" Type="http://schemas.openxmlformats.org/officeDocument/2006/relationships/font" Target="fonts/HelveticaNeue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85bd01d981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g385bd01d981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457e8eba9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g3a457e8eba9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85e4afc24c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g385e4afc24c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85f6244ca1_5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" name="Google Shape;154;g385f6244ca1_5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85f6244ca1_5_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8" name="Google Shape;178;g385f6244ca1_5_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85f6244ca1_5_9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5" name="Google Shape;205;g385f6244ca1_5_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a457e8eba9_0_3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4" name="Google Shape;214;g3a457e8eba9_0_3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85e4afc24c_0_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1" name="Google Shape;221;g385e4afc24c_0_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85f6244ca1_1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8" name="Google Shape;228;g385f6244ca1_1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solidFill>
          <a:srgbClr val="801B19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 txBox="1"/>
          <p:nvPr>
            <p:ph type="title"/>
          </p:nvPr>
        </p:nvSpPr>
        <p:spPr>
          <a:xfrm>
            <a:off x="844150" y="3874808"/>
            <a:ext cx="10515600" cy="835416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Helvetica Neue"/>
              <a:buNone/>
              <a:defRPr sz="3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0" name="Google Shape;20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42932" y="1479396"/>
            <a:ext cx="4106136" cy="13477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Helvetica Neue"/>
              <a:buNone/>
              <a:defRPr sz="54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b="0" i="0" sz="2000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Helvetica Neue Light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Helvetica Neue Light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Helvetica Neue Light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25" name="Google Shape;25;p3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6" name="Google Shape;26;p3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594303" y="2667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582427" y="176895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sz="18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31" name="Google Shape;31;p4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2" name="Google Shape;32;p4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73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4247">
          <p15:clr>
            <a:srgbClr val="FBAE40"/>
          </p15:clr>
        </p15:guide>
        <p15:guide id="4" orient="horz" pos="164">
          <p15:clr>
            <a:srgbClr val="FBAE40"/>
          </p15:clr>
        </p15:guide>
        <p15:guide id="5" orient="horz" pos="1003">
          <p15:clr>
            <a:srgbClr val="FBAE40"/>
          </p15:clr>
        </p15:guide>
        <p15:guide id="6" pos="121">
          <p15:clr>
            <a:srgbClr val="FBAE40"/>
          </p15:clr>
        </p15:guide>
        <p15:guide id="7" pos="370">
          <p15:clr>
            <a:srgbClr val="FBAE40"/>
          </p15:clr>
        </p15:guide>
        <p15:guide id="8" orient="horz" pos="1117">
          <p15:clr>
            <a:srgbClr val="FBAE40"/>
          </p15:clr>
        </p15:guide>
        <p15:guide id="9" pos="6992">
          <p15:clr>
            <a:srgbClr val="FBAE40"/>
          </p15:clr>
        </p15:guide>
        <p15:guide id="10" orient="horz" pos="3861">
          <p15:clr>
            <a:srgbClr val="FBAE40"/>
          </p15:clr>
        </p15:guide>
        <p15:guide id="11" pos="7559">
          <p15:clr>
            <a:srgbClr val="FBAE40"/>
          </p15:clr>
        </p15:guide>
        <p15:guide id="12" orient="horz" pos="3952">
          <p15:clr>
            <a:srgbClr val="FBAE40"/>
          </p15:clr>
        </p15:guide>
        <p15:guide id="13" orient="horz" pos="4201">
          <p15:clr>
            <a:srgbClr val="FBAE40"/>
          </p15:clr>
        </p15:guide>
        <p15:guide id="14" orient="horz" pos="411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38" name="Google Shape;38;p5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9" name="Google Shape;39;p5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47" name="Google Shape;47;p6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8" name="Google Shape;48;p6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52" name="Google Shape;52;p7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7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56" name="Google Shape;56;p8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8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 Light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 Light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9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63" name="Google Shape;63;p9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64" name="Google Shape;64;p9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70" name="Google Shape;70;p10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1" name="Google Shape;71;p10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76" name="Google Shape;76;p11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7" name="Google Shape;77;p11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82" name="Google Shape;82;p12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3" name="Google Shape;83;p12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b="1" i="0" sz="4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 Light"/>
              <a:buChar char="•"/>
              <a:defRPr b="0" i="0" sz="2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b="0" i="0" sz="20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b="0" i="0" sz="1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b="0" i="0" sz="1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2" name="Google Shape;12;p1"/>
          <p:cNvGrpSpPr/>
          <p:nvPr/>
        </p:nvGrpSpPr>
        <p:grpSpPr>
          <a:xfrm>
            <a:off x="0" y="6756400"/>
            <a:ext cx="12192000" cy="105496"/>
            <a:chOff x="0" y="6756400"/>
            <a:chExt cx="12192000" cy="105496"/>
          </a:xfrm>
        </p:grpSpPr>
        <p:pic>
          <p:nvPicPr>
            <p:cNvPr id="13" name="Google Shape;13;p1"/>
            <p:cNvPicPr preferRelativeResize="0"/>
            <p:nvPr/>
          </p:nvPicPr>
          <p:blipFill rotWithShape="1">
            <a:blip r:embed="rId1">
              <a:alphaModFix/>
            </a:blip>
            <a:srcRect b="0" l="0" r="0" t="0"/>
            <a:stretch/>
          </p:blipFill>
          <p:spPr>
            <a:xfrm>
              <a:off x="1524000" y="6756400"/>
              <a:ext cx="91440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4;p1"/>
            <p:cNvPicPr preferRelativeResize="0"/>
            <p:nvPr/>
          </p:nvPicPr>
          <p:blipFill rotWithShape="1">
            <a:blip r:embed="rId1">
              <a:alphaModFix/>
            </a:blip>
            <a:srcRect b="15585" l="0" r="71580" t="0"/>
            <a:stretch/>
          </p:blipFill>
          <p:spPr>
            <a:xfrm>
              <a:off x="0" y="6756400"/>
              <a:ext cx="2598717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5;p1"/>
            <p:cNvPicPr preferRelativeResize="0"/>
            <p:nvPr/>
          </p:nvPicPr>
          <p:blipFill rotWithShape="1">
            <a:blip r:embed="rId1">
              <a:alphaModFix/>
            </a:blip>
            <a:srcRect b="15585" l="0" r="71580" t="0"/>
            <a:stretch/>
          </p:blipFill>
          <p:spPr>
            <a:xfrm>
              <a:off x="9593283" y="6756400"/>
              <a:ext cx="2598717" cy="10549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1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17" name="Google Shape;17;p1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15.jpg"/><Relationship Id="rId10" Type="http://schemas.openxmlformats.org/officeDocument/2006/relationships/image" Target="../media/image35.jpg"/><Relationship Id="rId13" Type="http://schemas.openxmlformats.org/officeDocument/2006/relationships/image" Target="../media/image18.jpg"/><Relationship Id="rId12" Type="http://schemas.openxmlformats.org/officeDocument/2006/relationships/image" Target="../media/image11.jp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jpg"/><Relationship Id="rId4" Type="http://schemas.openxmlformats.org/officeDocument/2006/relationships/image" Target="../media/image16.jpg"/><Relationship Id="rId9" Type="http://schemas.openxmlformats.org/officeDocument/2006/relationships/image" Target="../media/image40.jpg"/><Relationship Id="rId14" Type="http://schemas.openxmlformats.org/officeDocument/2006/relationships/image" Target="../media/image9.jpg"/><Relationship Id="rId5" Type="http://schemas.openxmlformats.org/officeDocument/2006/relationships/image" Target="../media/image6.jpg"/><Relationship Id="rId6" Type="http://schemas.openxmlformats.org/officeDocument/2006/relationships/image" Target="../media/image7.jpg"/><Relationship Id="rId7" Type="http://schemas.openxmlformats.org/officeDocument/2006/relationships/image" Target="../media/image25.jpg"/><Relationship Id="rId8" Type="http://schemas.openxmlformats.org/officeDocument/2006/relationships/image" Target="../media/image14.jp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19.jpg"/><Relationship Id="rId10" Type="http://schemas.openxmlformats.org/officeDocument/2006/relationships/image" Target="../media/image20.jpg"/><Relationship Id="rId13" Type="http://schemas.openxmlformats.org/officeDocument/2006/relationships/image" Target="../media/image37.jpg"/><Relationship Id="rId12" Type="http://schemas.openxmlformats.org/officeDocument/2006/relationships/image" Target="../media/image24.jp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jpg"/><Relationship Id="rId4" Type="http://schemas.openxmlformats.org/officeDocument/2006/relationships/image" Target="../media/image13.jpg"/><Relationship Id="rId9" Type="http://schemas.openxmlformats.org/officeDocument/2006/relationships/image" Target="../media/image22.jpg"/><Relationship Id="rId14" Type="http://schemas.openxmlformats.org/officeDocument/2006/relationships/image" Target="../media/image23.jpg"/><Relationship Id="rId5" Type="http://schemas.openxmlformats.org/officeDocument/2006/relationships/image" Target="../media/image36.jpg"/><Relationship Id="rId6" Type="http://schemas.openxmlformats.org/officeDocument/2006/relationships/image" Target="../media/image39.png"/><Relationship Id="rId7" Type="http://schemas.openxmlformats.org/officeDocument/2006/relationships/image" Target="../media/image10.jpg"/><Relationship Id="rId8" Type="http://schemas.openxmlformats.org/officeDocument/2006/relationships/image" Target="../media/image17.jp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34.jpg"/><Relationship Id="rId10" Type="http://schemas.openxmlformats.org/officeDocument/2006/relationships/image" Target="../media/image29.jpg"/><Relationship Id="rId13" Type="http://schemas.openxmlformats.org/officeDocument/2006/relationships/image" Target="../media/image38.jpg"/><Relationship Id="rId12" Type="http://schemas.openxmlformats.org/officeDocument/2006/relationships/image" Target="../media/image32.jp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3.jpg"/><Relationship Id="rId4" Type="http://schemas.openxmlformats.org/officeDocument/2006/relationships/image" Target="../media/image28.jpg"/><Relationship Id="rId9" Type="http://schemas.openxmlformats.org/officeDocument/2006/relationships/image" Target="../media/image30.jpg"/><Relationship Id="rId14" Type="http://schemas.openxmlformats.org/officeDocument/2006/relationships/image" Target="../media/image26.jpg"/><Relationship Id="rId5" Type="http://schemas.openxmlformats.org/officeDocument/2006/relationships/image" Target="../media/image21.jpg"/><Relationship Id="rId6" Type="http://schemas.openxmlformats.org/officeDocument/2006/relationships/image" Target="../media/image31.jpg"/><Relationship Id="rId7" Type="http://schemas.openxmlformats.org/officeDocument/2006/relationships/image" Target="../media/image41.jpg"/><Relationship Id="rId8" Type="http://schemas.openxmlformats.org/officeDocument/2006/relationships/image" Target="../media/image2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www.researchgate.net/profile/Craig-Knoblock/publication/221607221/figure/fig3/AS:305582780239874@1449868020143/An-example-of-Content-Based-Image-Retrieval.png" TargetMode="External"/><Relationship Id="rId4" Type="http://schemas.openxmlformats.org/officeDocument/2006/relationships/hyperlink" Target="https://www.researchgate.net/profile/Craig-Knoblock/publication/221607221/figure/fig3/AS:305582780239874@1449868020143/An-example-of-Content-Based-Image-Retrieval.png" TargetMode="External"/><Relationship Id="rId5" Type="http://schemas.openxmlformats.org/officeDocument/2006/relationships/hyperlink" Target="https://doi.org/10.1049/iet-ipr.2012.0203" TargetMode="External"/><Relationship Id="rId6" Type="http://schemas.openxmlformats.org/officeDocument/2006/relationships/hyperlink" Target="https://www.rroij.com/open-access/efficient-content-based-image-retrievalsystem-in-visual-words-color-and-edgedirective-descriptors-and-fuzzy-color-andtexture-histogram.pdf" TargetMode="External"/><Relationship Id="rId7" Type="http://schemas.openxmlformats.org/officeDocument/2006/relationships/hyperlink" Target="https://aircconline.com/sipij/V3N1/3112sipij04.pdf" TargetMode="External"/><Relationship Id="rId8" Type="http://schemas.openxmlformats.org/officeDocument/2006/relationships/hyperlink" Target="https://doi.org/10.71097/ijsat.v16.i1.1418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www.kaggle.com/datasets/ameyaditya/cbir-50" TargetMode="External"/><Relationship Id="rId4" Type="http://schemas.openxmlformats.org/officeDocument/2006/relationships/hyperlink" Target="https://doi.org/10.34740/KAGGLE/DSV/2645886" TargetMode="External"/><Relationship Id="rId5" Type="http://schemas.openxmlformats.org/officeDocument/2006/relationships/hyperlink" Target="https://www.kaggle.com/datasets/ajg117/indian-paintings-dataset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>
            <p:ph type="title"/>
          </p:nvPr>
        </p:nvSpPr>
        <p:spPr>
          <a:xfrm>
            <a:off x="1273425" y="2935725"/>
            <a:ext cx="9445500" cy="63060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ECE501- Digital Image Processing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9" name="Google Shape;89;p13"/>
          <p:cNvGraphicFramePr/>
          <p:nvPr/>
        </p:nvGraphicFramePr>
        <p:xfrm>
          <a:off x="1379950" y="4608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{359A0DCC-EACA-4E23-A09E-4218D214C90B}</a:tableStyleId>
              </a:tblPr>
              <a:tblGrid>
                <a:gridCol w="4616225"/>
                <a:gridCol w="4616225"/>
              </a:tblGrid>
              <a:tr h="463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FFFFFF"/>
                          </a:solidFill>
                        </a:rPr>
                        <a:t>Dhriti Gandhi</a:t>
                      </a:r>
                      <a:endParaRPr sz="20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FFFFFF"/>
                          </a:solidFill>
                        </a:rPr>
                        <a:t>AU2340030</a:t>
                      </a:r>
                      <a:endParaRPr sz="20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63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FFFFFF"/>
                          </a:solidFill>
                        </a:rPr>
                        <a:t>Aneri Kabrawala</a:t>
                      </a:r>
                      <a:endParaRPr sz="20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FFFFFF"/>
                          </a:solidFill>
                        </a:rPr>
                        <a:t>AU2340041</a:t>
                      </a:r>
                      <a:endParaRPr sz="20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63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FFFFFF"/>
                          </a:solidFill>
                        </a:rPr>
                        <a:t>Renee Vora</a:t>
                      </a:r>
                      <a:endParaRPr sz="20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FFFFFF"/>
                          </a:solidFill>
                        </a:rPr>
                        <a:t>AU2340059</a:t>
                      </a:r>
                      <a:endParaRPr sz="20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63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FFFFFF"/>
                          </a:solidFill>
                        </a:rPr>
                        <a:t>Pushti Sonak</a:t>
                      </a:r>
                      <a:endParaRPr sz="20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FFFFFF"/>
                          </a:solidFill>
                        </a:rPr>
                        <a:t>AU2340082</a:t>
                      </a:r>
                      <a:endParaRPr sz="20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90" name="Google Shape;90;p13"/>
          <p:cNvSpPr txBox="1"/>
          <p:nvPr/>
        </p:nvSpPr>
        <p:spPr>
          <a:xfrm>
            <a:off x="1090275" y="3428988"/>
            <a:ext cx="9811800" cy="7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Content-Based Image Retrieval (CBIR)</a:t>
            </a:r>
            <a:endParaRPr b="1" sz="25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Group 6</a:t>
            </a:r>
            <a:endParaRPr b="1" sz="22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>
            <p:ph type="title"/>
          </p:nvPr>
        </p:nvSpPr>
        <p:spPr>
          <a:xfrm>
            <a:off x="-3177950" y="0"/>
            <a:ext cx="10515600" cy="1112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/>
              <a:t>Introduction</a:t>
            </a:r>
            <a:endParaRPr/>
          </a:p>
        </p:txBody>
      </p:sp>
      <p:sp>
        <p:nvSpPr>
          <p:cNvPr id="96" name="Google Shape;96;p14"/>
          <p:cNvSpPr txBox="1"/>
          <p:nvPr>
            <p:ph idx="1" type="body"/>
          </p:nvPr>
        </p:nvSpPr>
        <p:spPr>
          <a:xfrm>
            <a:off x="457125" y="1451850"/>
            <a:ext cx="11445600" cy="47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0955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elvetica Neue Light"/>
              <a:buChar char="•"/>
            </a:pPr>
            <a:r>
              <a:rPr lang="en-US" sz="2100"/>
              <a:t>Due to an exponential increase of image data across every domain, there is a need of systems that retrieve images based on the actual </a:t>
            </a:r>
            <a:r>
              <a:rPr lang="en-US" sz="2100">
                <a:latin typeface="Helvetica Neue"/>
                <a:ea typeface="Helvetica Neue"/>
                <a:cs typeface="Helvetica Neue"/>
                <a:sym typeface="Helvetica Neue"/>
              </a:rPr>
              <a:t>visual characteristics</a:t>
            </a:r>
            <a:r>
              <a:rPr lang="en-US" sz="2100"/>
              <a:t> (extracting features) to get </a:t>
            </a:r>
            <a:r>
              <a:rPr i="1" lang="en-US" sz="2100"/>
              <a:t>meaningful searches</a:t>
            </a:r>
            <a:r>
              <a:rPr lang="en-US" sz="2100"/>
              <a:t>.</a:t>
            </a:r>
            <a:endParaRPr sz="2100"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-20955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2100">
                <a:latin typeface="Helvetica Neue"/>
                <a:ea typeface="Helvetica Neue"/>
                <a:cs typeface="Helvetica Neue"/>
                <a:sym typeface="Helvetica Neue"/>
              </a:rPr>
              <a:t>Objective:</a:t>
            </a:r>
            <a:r>
              <a:rPr lang="en-US" sz="2100"/>
              <a:t> </a:t>
            </a:r>
            <a:r>
              <a:rPr lang="en-US" sz="2100"/>
              <a:t>To implement a CBIR system for a diverse dataset and retrieve similar images based on traditional methods using features like colour, texture, shape and similarity metrics.</a:t>
            </a:r>
            <a:endParaRPr sz="2100"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-20955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2100">
                <a:latin typeface="Helvetica Neue"/>
                <a:ea typeface="Helvetica Neue"/>
                <a:cs typeface="Helvetica Neue"/>
                <a:sym typeface="Helvetica Neue"/>
              </a:rPr>
              <a:t>Summary </a:t>
            </a:r>
            <a:r>
              <a:rPr lang="en-US" sz="2100"/>
              <a:t>of work done before Mid-Sem:</a:t>
            </a:r>
            <a:endParaRPr sz="2100"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-3619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-US" sz="2100"/>
              <a:t>The dataset was extremely varied as it consisted of 10 different domains.</a:t>
            </a:r>
            <a:endParaRPr sz="2100"/>
          </a:p>
          <a:p>
            <a:pPr indent="-3619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-US" sz="2100"/>
              <a:t>Every feature was </a:t>
            </a:r>
            <a:r>
              <a:rPr lang="en-US" sz="2100">
                <a:latin typeface="Helvetica Neue"/>
                <a:ea typeface="Helvetica Neue"/>
                <a:cs typeface="Helvetica Neue"/>
                <a:sym typeface="Helvetica Neue"/>
              </a:rPr>
              <a:t>computed individually</a:t>
            </a:r>
            <a:r>
              <a:rPr lang="en-US" sz="2100"/>
              <a:t> for extraction, like only edge or only colour or only feature fusion and then implemented for the dataset. </a:t>
            </a:r>
            <a:endParaRPr sz="2100"/>
          </a:p>
          <a:p>
            <a:pPr indent="-3619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-US" sz="2100"/>
              <a:t>The methods we had used were HSV, LBP, Sobel and Euclidean distance for retrieval.</a:t>
            </a:r>
            <a:endParaRPr sz="2100"/>
          </a:p>
          <a:p>
            <a:pPr indent="-3619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-US" sz="2100"/>
              <a:t>We didn’t work much on the accuracy and comparisons of the results obtained.</a:t>
            </a:r>
            <a:endParaRPr sz="2100"/>
          </a:p>
        </p:txBody>
      </p:sp>
      <p:sp>
        <p:nvSpPr>
          <p:cNvPr id="97" name="Google Shape;97;p14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/>
          <p:nvPr>
            <p:ph type="title"/>
          </p:nvPr>
        </p:nvSpPr>
        <p:spPr>
          <a:xfrm>
            <a:off x="743025" y="320950"/>
            <a:ext cx="10515600" cy="73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Helvetica Neue"/>
              <a:buNone/>
            </a:pPr>
            <a:r>
              <a:rPr lang="en-US"/>
              <a:t>Outcomes and takeaways from initial work</a:t>
            </a:r>
            <a:endParaRPr/>
          </a:p>
        </p:txBody>
      </p:sp>
      <p:sp>
        <p:nvSpPr>
          <p:cNvPr id="103" name="Google Shape;103;p15"/>
          <p:cNvSpPr txBox="1"/>
          <p:nvPr>
            <p:ph idx="1" type="body"/>
          </p:nvPr>
        </p:nvSpPr>
        <p:spPr>
          <a:xfrm>
            <a:off x="445950" y="1058350"/>
            <a:ext cx="11300100" cy="44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The individual feature extraction was not adaptable after a certain extent as the results were inconsistent. 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Its performance was domain-specific; it gave meaningful results only for few. Thus, 10 domains were too broad for this system.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Colour feature was dominant in giving wrong results for gray-scale images.</a:t>
            </a:r>
            <a:endParaRPr sz="2000"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Helvetica Neue"/>
              <a:buChar char="●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Improved Implementations Based on the Conclusions:</a:t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To improve the consistency, analyze performance and compare meaningfully, we kept three main domains: Brain MRI Scans, Natural, Paintings</a:t>
            </a:r>
            <a:endParaRPr sz="2000"/>
          </a:p>
          <a:p>
            <a:pPr indent="-355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By experimenting through trial and error </a:t>
            </a:r>
            <a:r>
              <a:rPr lang="en-US" sz="2000"/>
              <a:t>we selected </a:t>
            </a:r>
            <a:r>
              <a:rPr lang="en-US" sz="2000"/>
              <a:t>weights such that it balances the contribution of features during retrieval. </a:t>
            </a:r>
            <a:endParaRPr sz="2000"/>
          </a:p>
          <a:p>
            <a:pPr indent="-355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We numerically compared our results using standard evaluation metrics like recall, precision and F1-score.</a:t>
            </a:r>
            <a:endParaRPr sz="2000"/>
          </a:p>
        </p:txBody>
      </p:sp>
      <p:sp>
        <p:nvSpPr>
          <p:cNvPr id="104" name="Google Shape;104;p15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>
            <p:ph type="title"/>
          </p:nvPr>
        </p:nvSpPr>
        <p:spPr>
          <a:xfrm>
            <a:off x="442625" y="459300"/>
            <a:ext cx="10515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/>
              <a:t>Updated Methodology</a:t>
            </a:r>
            <a:endParaRPr/>
          </a:p>
        </p:txBody>
      </p:sp>
      <p:sp>
        <p:nvSpPr>
          <p:cNvPr id="110" name="Google Shape;110;p16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1" name="Google Shape;111;p16"/>
          <p:cNvSpPr txBox="1"/>
          <p:nvPr/>
        </p:nvSpPr>
        <p:spPr>
          <a:xfrm>
            <a:off x="479850" y="1254325"/>
            <a:ext cx="112323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The following flowchart shows the method: </a:t>
            </a:r>
            <a:endParaRPr sz="18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12" name="Google Shape;112;p16"/>
          <p:cNvSpPr txBox="1"/>
          <p:nvPr/>
        </p:nvSpPr>
        <p:spPr>
          <a:xfrm>
            <a:off x="4649100" y="2640513"/>
            <a:ext cx="2602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13" name="Google Shape;113;p16"/>
          <p:cNvSpPr/>
          <p:nvPr/>
        </p:nvSpPr>
        <p:spPr>
          <a:xfrm>
            <a:off x="442625" y="2360438"/>
            <a:ext cx="1806600" cy="855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Helvetica Neue Light"/>
                <a:ea typeface="Helvetica Neue Light"/>
                <a:cs typeface="Helvetica Neue Light"/>
                <a:sym typeface="Helvetica Neue Light"/>
              </a:rPr>
              <a:t>Input Preprocessed Dataset</a:t>
            </a:r>
            <a:endParaRPr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14" name="Google Shape;114;p16"/>
          <p:cNvSpPr/>
          <p:nvPr/>
        </p:nvSpPr>
        <p:spPr>
          <a:xfrm>
            <a:off x="2978375" y="2058038"/>
            <a:ext cx="2438100" cy="1460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Helvetica Neue"/>
                <a:ea typeface="Helvetica Neue"/>
                <a:cs typeface="Helvetica Neue"/>
                <a:sym typeface="Helvetica Neue"/>
              </a:rPr>
              <a:t>Object Segmentation</a:t>
            </a:r>
            <a:endParaRPr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203200" lvl="0" marL="342900" rtl="0" algn="l">
              <a:spcBef>
                <a:spcPts val="0"/>
              </a:spcBef>
              <a:spcAft>
                <a:spcPts val="0"/>
              </a:spcAft>
              <a:buSzPts val="1400"/>
              <a:buFont typeface="Helvetica Neue Light"/>
              <a:buAutoNum type="arabicPeriod"/>
            </a:pPr>
            <a:r>
              <a:rPr lang="en-US">
                <a:latin typeface="Helvetica Neue Light"/>
                <a:ea typeface="Helvetica Neue Light"/>
                <a:cs typeface="Helvetica Neue Light"/>
                <a:sym typeface="Helvetica Neue Light"/>
              </a:rPr>
              <a:t>Convert to HSV</a:t>
            </a:r>
            <a:endParaRPr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203200" lvl="0" marL="342900" rtl="0" algn="l">
              <a:spcBef>
                <a:spcPts val="0"/>
              </a:spcBef>
              <a:spcAft>
                <a:spcPts val="0"/>
              </a:spcAft>
              <a:buSzPts val="1400"/>
              <a:buFont typeface="Helvetica Neue Light"/>
              <a:buAutoNum type="arabicPeriod"/>
            </a:pPr>
            <a:r>
              <a:rPr lang="en-US">
                <a:latin typeface="Helvetica Neue Light"/>
                <a:ea typeface="Helvetica Neue Light"/>
                <a:cs typeface="Helvetica Neue Light"/>
                <a:sym typeface="Helvetica Neue Light"/>
              </a:rPr>
              <a:t>Generate Foreground Mask</a:t>
            </a:r>
            <a:endParaRPr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203200" lvl="0" marL="342900" rtl="0" algn="l">
              <a:spcBef>
                <a:spcPts val="0"/>
              </a:spcBef>
              <a:spcAft>
                <a:spcPts val="0"/>
              </a:spcAft>
              <a:buSzPts val="1400"/>
              <a:buFont typeface="Helvetica Neue Light"/>
              <a:buAutoNum type="arabicPeriod"/>
            </a:pPr>
            <a:r>
              <a:rPr lang="en-US">
                <a:latin typeface="Helvetica Neue Light"/>
                <a:ea typeface="Helvetica Neue Light"/>
                <a:cs typeface="Helvetica Neue Light"/>
                <a:sym typeface="Helvetica Neue Light"/>
              </a:rPr>
              <a:t>Extract Largest Connected Component</a:t>
            </a:r>
            <a:endParaRPr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15" name="Google Shape;115;p16"/>
          <p:cNvSpPr/>
          <p:nvPr/>
        </p:nvSpPr>
        <p:spPr>
          <a:xfrm>
            <a:off x="4256988" y="4176838"/>
            <a:ext cx="2202600" cy="118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Helvetica Neue"/>
                <a:ea typeface="Helvetica Neue"/>
                <a:cs typeface="Helvetica Neue"/>
                <a:sym typeface="Helvetica Neue"/>
              </a:rPr>
              <a:t>Evaluation</a:t>
            </a:r>
            <a:endParaRPr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Helvetica Neue Light"/>
              <a:buAutoNum type="arabicPeriod"/>
            </a:pPr>
            <a:r>
              <a:rPr lang="en-US">
                <a:latin typeface="Helvetica Neue Light"/>
                <a:ea typeface="Helvetica Neue Light"/>
                <a:cs typeface="Helvetica Neue Light"/>
                <a:sym typeface="Helvetica Neue Light"/>
              </a:rPr>
              <a:t>Compute TP, FP, FN, TN</a:t>
            </a:r>
            <a:endParaRPr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Helvetica Neue Light"/>
              <a:buAutoNum type="arabicPeriod"/>
            </a:pPr>
            <a:r>
              <a:rPr lang="en-US">
                <a:latin typeface="Helvetica Neue Light"/>
                <a:ea typeface="Helvetica Neue Light"/>
                <a:cs typeface="Helvetica Neue Light"/>
                <a:sym typeface="Helvetica Neue Light"/>
              </a:rPr>
              <a:t>Calculate Precision, Recall, F1</a:t>
            </a:r>
            <a:endParaRPr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16" name="Google Shape;116;p16"/>
          <p:cNvSpPr/>
          <p:nvPr/>
        </p:nvSpPr>
        <p:spPr>
          <a:xfrm>
            <a:off x="7251600" y="4377538"/>
            <a:ext cx="1806600" cy="78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Helvetica Neue"/>
                <a:ea typeface="Helvetica Neue"/>
                <a:cs typeface="Helvetica Neue"/>
                <a:sym typeface="Helvetica Neue"/>
              </a:rPr>
              <a:t>Retrieval</a:t>
            </a:r>
            <a:endParaRPr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Helvetica Neue Light"/>
                <a:ea typeface="Helvetica Neue Light"/>
                <a:cs typeface="Helvetica Neue Light"/>
                <a:sym typeface="Helvetica Neue Light"/>
              </a:rPr>
              <a:t>Retrieve Top-K most similar images</a:t>
            </a:r>
            <a:endParaRPr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9625475" y="4176838"/>
            <a:ext cx="2202600" cy="118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Helvetica Neue"/>
                <a:ea typeface="Helvetica Neue"/>
                <a:cs typeface="Helvetica Neue"/>
                <a:sym typeface="Helvetica Neue"/>
              </a:rPr>
              <a:t>Similarity Computation</a:t>
            </a:r>
            <a:endParaRPr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Helvetica Neue Light"/>
                <a:ea typeface="Helvetica Neue Light"/>
                <a:cs typeface="Helvetica Neue Light"/>
                <a:sym typeface="Helvetica Neue Light"/>
              </a:rPr>
              <a:t>Compute cosine similarity between query vector &amp; dataset vectors</a:t>
            </a:r>
            <a:endParaRPr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9625475" y="2285638"/>
            <a:ext cx="2202600" cy="1007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Helvetica Neue"/>
                <a:ea typeface="Helvetica Neue"/>
                <a:cs typeface="Helvetica Neue"/>
                <a:sym typeface="Helvetica Neue"/>
              </a:rPr>
              <a:t>Feature Fusion</a:t>
            </a:r>
            <a:endParaRPr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Helvetica Neue Light"/>
                <a:ea typeface="Helvetica Neue Light"/>
                <a:cs typeface="Helvetica Neue Light"/>
                <a:sym typeface="Helvetica Neue Light"/>
              </a:rPr>
              <a:t>Weighted combination of Color (0.4), Texture (0.4), Shape (0.2)</a:t>
            </a:r>
            <a:endParaRPr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19" name="Google Shape;119;p16"/>
          <p:cNvSpPr/>
          <p:nvPr/>
        </p:nvSpPr>
        <p:spPr>
          <a:xfrm>
            <a:off x="6145625" y="2058038"/>
            <a:ext cx="2750700" cy="1460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Helvetica Neue"/>
                <a:ea typeface="Helvetica Neue"/>
                <a:cs typeface="Helvetica Neue"/>
                <a:sym typeface="Helvetica Neue"/>
              </a:rPr>
              <a:t>Feature Extraction</a:t>
            </a:r>
            <a:endParaRPr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Helvetica Neue Light"/>
              <a:buAutoNum type="arabicPeriod"/>
            </a:pPr>
            <a:r>
              <a:rPr lang="en-US">
                <a:latin typeface="Helvetica Neue Light"/>
                <a:ea typeface="Helvetica Neue Light"/>
                <a:cs typeface="Helvetica Neue Light"/>
                <a:sym typeface="Helvetica Neue Light"/>
              </a:rPr>
              <a:t>Color Features: HSV + LAB histograms </a:t>
            </a:r>
            <a:endParaRPr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Helvetica Neue Light"/>
              <a:buAutoNum type="arabicPeriod"/>
            </a:pPr>
            <a:r>
              <a:rPr lang="en-US">
                <a:latin typeface="Helvetica Neue Light"/>
                <a:ea typeface="Helvetica Neue Light"/>
                <a:cs typeface="Helvetica Neue Light"/>
                <a:sym typeface="Helvetica Neue Light"/>
              </a:rPr>
              <a:t>Texture Features: LBP </a:t>
            </a:r>
            <a:endParaRPr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Helvetica Neue Light"/>
              <a:buAutoNum type="arabicPeriod"/>
            </a:pPr>
            <a:r>
              <a:rPr lang="en-US">
                <a:latin typeface="Helvetica Neue Light"/>
                <a:ea typeface="Helvetica Neue Light"/>
                <a:cs typeface="Helvetica Neue Light"/>
                <a:sym typeface="Helvetica Neue Light"/>
              </a:rPr>
              <a:t>Shape Features: Hu moments</a:t>
            </a:r>
            <a:endParaRPr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20" name="Google Shape;120;p16"/>
          <p:cNvSpPr/>
          <p:nvPr/>
        </p:nvSpPr>
        <p:spPr>
          <a:xfrm>
            <a:off x="527125" y="4227838"/>
            <a:ext cx="2750700" cy="108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Helvetica Neue"/>
                <a:ea typeface="Helvetica Neue"/>
                <a:cs typeface="Helvetica Neue"/>
                <a:sym typeface="Helvetica Neue"/>
              </a:rPr>
              <a:t>Save Results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Helvetica Neue Light"/>
              <a:buAutoNum type="arabicPeriod"/>
            </a:pPr>
            <a:r>
              <a:rPr lang="en-US">
                <a:latin typeface="Helvetica Neue Light"/>
                <a:ea typeface="Helvetica Neue Light"/>
                <a:cs typeface="Helvetica Neue Light"/>
                <a:sym typeface="Helvetica Neue Light"/>
              </a:rPr>
              <a:t>Save retrieved images</a:t>
            </a:r>
            <a:endParaRPr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Helvetica Neue Light"/>
              <a:buAutoNum type="arabicPeriod"/>
            </a:pPr>
            <a:r>
              <a:rPr lang="en-US">
                <a:latin typeface="Helvetica Neue Light"/>
                <a:ea typeface="Helvetica Neue Light"/>
                <a:cs typeface="Helvetica Neue Light"/>
                <a:sym typeface="Helvetica Neue Light"/>
              </a:rPr>
              <a:t>Export evaluation metrics to Excel</a:t>
            </a:r>
            <a:endParaRPr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121" name="Google Shape;121;p16"/>
          <p:cNvCxnSpPr>
            <a:endCxn id="114" idx="1"/>
          </p:cNvCxnSpPr>
          <p:nvPr/>
        </p:nvCxnSpPr>
        <p:spPr>
          <a:xfrm>
            <a:off x="2234975" y="2784488"/>
            <a:ext cx="743400" cy="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" name="Google Shape;122;p16"/>
          <p:cNvCxnSpPr>
            <a:stCxn id="117" idx="1"/>
            <a:endCxn id="116" idx="3"/>
          </p:cNvCxnSpPr>
          <p:nvPr/>
        </p:nvCxnSpPr>
        <p:spPr>
          <a:xfrm rot="10800000">
            <a:off x="9058175" y="4769338"/>
            <a:ext cx="567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" name="Google Shape;123;p16"/>
          <p:cNvCxnSpPr>
            <a:stCxn id="116" idx="1"/>
            <a:endCxn id="115" idx="3"/>
          </p:cNvCxnSpPr>
          <p:nvPr/>
        </p:nvCxnSpPr>
        <p:spPr>
          <a:xfrm rot="10800000">
            <a:off x="6459600" y="4769338"/>
            <a:ext cx="79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" name="Google Shape;124;p16"/>
          <p:cNvCxnSpPr>
            <a:stCxn id="115" idx="1"/>
            <a:endCxn id="120" idx="3"/>
          </p:cNvCxnSpPr>
          <p:nvPr/>
        </p:nvCxnSpPr>
        <p:spPr>
          <a:xfrm rot="10800000">
            <a:off x="3277788" y="4769338"/>
            <a:ext cx="979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" name="Google Shape;125;p16"/>
          <p:cNvCxnSpPr>
            <a:stCxn id="118" idx="2"/>
            <a:endCxn id="117" idx="0"/>
          </p:cNvCxnSpPr>
          <p:nvPr/>
        </p:nvCxnSpPr>
        <p:spPr>
          <a:xfrm>
            <a:off x="10726775" y="3293338"/>
            <a:ext cx="0" cy="88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6" name="Google Shape;126;p16"/>
          <p:cNvCxnSpPr>
            <a:stCxn id="119" idx="3"/>
            <a:endCxn id="118" idx="1"/>
          </p:cNvCxnSpPr>
          <p:nvPr/>
        </p:nvCxnSpPr>
        <p:spPr>
          <a:xfrm>
            <a:off x="8896325" y="2788388"/>
            <a:ext cx="729300" cy="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7" name="Google Shape;127;p16"/>
          <p:cNvCxnSpPr>
            <a:stCxn id="114" idx="3"/>
            <a:endCxn id="119" idx="1"/>
          </p:cNvCxnSpPr>
          <p:nvPr/>
        </p:nvCxnSpPr>
        <p:spPr>
          <a:xfrm>
            <a:off x="5416475" y="2788388"/>
            <a:ext cx="729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 txBox="1"/>
          <p:nvPr>
            <p:ph type="title"/>
          </p:nvPr>
        </p:nvSpPr>
        <p:spPr>
          <a:xfrm>
            <a:off x="573750" y="115900"/>
            <a:ext cx="11164500" cy="738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/>
              <a:t>Results (Domain - Natural</a:t>
            </a:r>
            <a:r>
              <a:rPr lang="en-US"/>
              <a:t>)</a:t>
            </a:r>
            <a:endParaRPr/>
          </a:p>
        </p:txBody>
      </p:sp>
      <p:sp>
        <p:nvSpPr>
          <p:cNvPr id="133" name="Google Shape;133;p17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369248" y="3006825"/>
            <a:ext cx="17982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Query</a:t>
            </a:r>
            <a:endParaRPr sz="28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35" name="Google Shape;135;p17"/>
          <p:cNvSpPr txBox="1"/>
          <p:nvPr/>
        </p:nvSpPr>
        <p:spPr>
          <a:xfrm>
            <a:off x="2295100" y="3019313"/>
            <a:ext cx="18171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Rank 1</a:t>
            </a:r>
            <a:endParaRPr sz="28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36" name="Google Shape;136;p17"/>
          <p:cNvSpPr txBox="1"/>
          <p:nvPr/>
        </p:nvSpPr>
        <p:spPr>
          <a:xfrm>
            <a:off x="4239838" y="3019288"/>
            <a:ext cx="17799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Rank 2</a:t>
            </a:r>
            <a:endParaRPr sz="28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37" name="Google Shape;137;p17"/>
          <p:cNvSpPr txBox="1"/>
          <p:nvPr/>
        </p:nvSpPr>
        <p:spPr>
          <a:xfrm>
            <a:off x="6189322" y="3037925"/>
            <a:ext cx="17295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Rank 3</a:t>
            </a:r>
            <a:endParaRPr sz="28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38" name="Google Shape;138;p17"/>
          <p:cNvSpPr txBox="1"/>
          <p:nvPr/>
        </p:nvSpPr>
        <p:spPr>
          <a:xfrm>
            <a:off x="8132688" y="3037925"/>
            <a:ext cx="17295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Rank 4</a:t>
            </a:r>
            <a:endParaRPr sz="28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139" name="Google Shape;139;p17" title="match_1_Mango_53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64506" y="1134284"/>
            <a:ext cx="1798253" cy="17982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7" title="match_2_Mango_130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96859" y="1134277"/>
            <a:ext cx="1798253" cy="17982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7" title="match_3_Mango_64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30686" y="1134290"/>
            <a:ext cx="1798231" cy="1798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7" title="match_4_Mango_51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06746" y="1134300"/>
            <a:ext cx="1798209" cy="17982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7" title="query_q_Mango_29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075" y="1134300"/>
            <a:ext cx="1798204" cy="17982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7" title="match_1_Peacock_6.jp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277913" y="3608261"/>
            <a:ext cx="1779975" cy="1779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7" title="match_2_Vulture_43.jp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211699" y="3608261"/>
            <a:ext cx="1779975" cy="177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title="match_3_Peacock_37.jp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145500" y="3599137"/>
            <a:ext cx="1798250" cy="1798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 title="match_4_Peacock_157.jp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097575" y="3599125"/>
            <a:ext cx="1798250" cy="179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7" title="match_5_Rose_33.jp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0049648" y="3599125"/>
            <a:ext cx="1798250" cy="179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7" title="query_Peacock_10.jp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44104" y="3608250"/>
            <a:ext cx="1779983" cy="1779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7" title="match_5_Desert_23.jpe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0048942" y="1143412"/>
            <a:ext cx="1779983" cy="1779983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 txBox="1"/>
          <p:nvPr/>
        </p:nvSpPr>
        <p:spPr>
          <a:xfrm>
            <a:off x="10076063" y="3037925"/>
            <a:ext cx="17295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Rank 5</a:t>
            </a:r>
            <a:endParaRPr sz="28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8"/>
          <p:cNvSpPr txBox="1"/>
          <p:nvPr>
            <p:ph type="title"/>
          </p:nvPr>
        </p:nvSpPr>
        <p:spPr>
          <a:xfrm>
            <a:off x="573750" y="115900"/>
            <a:ext cx="11164500" cy="738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/>
              <a:t>Results (Domain  - Paintings)</a:t>
            </a:r>
            <a:endParaRPr/>
          </a:p>
        </p:txBody>
      </p:sp>
      <p:sp>
        <p:nvSpPr>
          <p:cNvPr id="157" name="Google Shape;157;p18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8" name="Google Shape;158;p18" title="match_1_pichwai17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3051" y="1321175"/>
            <a:ext cx="1716762" cy="1716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8" title="match_2_pichwai15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66501" y="1321175"/>
            <a:ext cx="1716762" cy="1716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8" title="match_3_gond89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09961" y="1321197"/>
            <a:ext cx="1716740" cy="1716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8" title="match_4_pichwai4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53401" y="1299713"/>
            <a:ext cx="1716719" cy="1716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8" title="query_q_pichwai5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18038" y="1321175"/>
            <a:ext cx="1678325" cy="167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 title="match_1_t3_pp3lm3.jp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315858" y="3584272"/>
            <a:ext cx="1716728" cy="1716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8" title="match_2_t3_v3nlm7.jp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249191" y="3584250"/>
            <a:ext cx="1716728" cy="1716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8" title="match_3_t3_vb6gx1.jp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198913" y="3565047"/>
            <a:ext cx="1716707" cy="17167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 title="match_4_pichwai88.jp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148589" y="3584298"/>
            <a:ext cx="1716685" cy="1716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 title="query_q_t3_maq93b.jp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22837" y="3584261"/>
            <a:ext cx="1678292" cy="16782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 title="match_5_gond2.jp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0057263" y="1299700"/>
            <a:ext cx="1716700" cy="171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 title="match_5_t3_hartfx.jp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0052402" y="3565035"/>
            <a:ext cx="1716750" cy="171673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8"/>
          <p:cNvSpPr txBox="1"/>
          <p:nvPr/>
        </p:nvSpPr>
        <p:spPr>
          <a:xfrm>
            <a:off x="369248" y="3006825"/>
            <a:ext cx="17982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Query</a:t>
            </a:r>
            <a:endParaRPr sz="28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71" name="Google Shape;171;p18"/>
          <p:cNvSpPr txBox="1"/>
          <p:nvPr/>
        </p:nvSpPr>
        <p:spPr>
          <a:xfrm>
            <a:off x="2295100" y="3019313"/>
            <a:ext cx="18171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Rank 1</a:t>
            </a:r>
            <a:endParaRPr sz="28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72" name="Google Shape;172;p18"/>
          <p:cNvSpPr txBox="1"/>
          <p:nvPr/>
        </p:nvSpPr>
        <p:spPr>
          <a:xfrm>
            <a:off x="4239838" y="3019288"/>
            <a:ext cx="17799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Rank 2</a:t>
            </a:r>
            <a:endParaRPr sz="28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73" name="Google Shape;173;p18"/>
          <p:cNvSpPr txBox="1"/>
          <p:nvPr/>
        </p:nvSpPr>
        <p:spPr>
          <a:xfrm>
            <a:off x="6189322" y="3037925"/>
            <a:ext cx="17295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Rank 3</a:t>
            </a:r>
            <a:endParaRPr sz="28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74" name="Google Shape;174;p18"/>
          <p:cNvSpPr txBox="1"/>
          <p:nvPr/>
        </p:nvSpPr>
        <p:spPr>
          <a:xfrm>
            <a:off x="8132688" y="3037925"/>
            <a:ext cx="17295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Rank 4</a:t>
            </a:r>
            <a:endParaRPr sz="28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75" name="Google Shape;175;p18"/>
          <p:cNvSpPr txBox="1"/>
          <p:nvPr/>
        </p:nvSpPr>
        <p:spPr>
          <a:xfrm>
            <a:off x="10076063" y="3037925"/>
            <a:ext cx="17295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Rank 5</a:t>
            </a:r>
            <a:endParaRPr sz="28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9"/>
          <p:cNvSpPr txBox="1"/>
          <p:nvPr>
            <p:ph type="title"/>
          </p:nvPr>
        </p:nvSpPr>
        <p:spPr>
          <a:xfrm>
            <a:off x="587375" y="260350"/>
            <a:ext cx="11164500" cy="738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/>
              <a:t>Results (Domain - Brain MRI)</a:t>
            </a:r>
            <a:endParaRPr/>
          </a:p>
        </p:txBody>
      </p:sp>
      <p:sp>
        <p:nvSpPr>
          <p:cNvPr id="181" name="Google Shape;181;p19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2" name="Google Shape;182;p19" title="match_1_Tr-gl_0169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5007" y="3693750"/>
            <a:ext cx="1694848" cy="16948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9" title="match_2_Tr-gl_0356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8456" y="3693750"/>
            <a:ext cx="1694848" cy="16948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 title="match_3_Tr-gl_0170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05716" y="3693761"/>
            <a:ext cx="1694826" cy="1694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 title="match_4_Tr-gl_0168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22964" y="3693771"/>
            <a:ext cx="1694804" cy="16948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 title="query_q_Tr-gl_0060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00863" y="3712723"/>
            <a:ext cx="1656901" cy="1656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 title="match_5_Tr-gl_0052.jp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040178" y="3693772"/>
            <a:ext cx="1694835" cy="1694821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9"/>
          <p:cNvSpPr txBox="1"/>
          <p:nvPr/>
        </p:nvSpPr>
        <p:spPr>
          <a:xfrm>
            <a:off x="400863" y="3091750"/>
            <a:ext cx="16947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Query</a:t>
            </a:r>
            <a:endParaRPr sz="28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89" name="Google Shape;189;p19"/>
          <p:cNvSpPr txBox="1"/>
          <p:nvPr/>
        </p:nvSpPr>
        <p:spPr>
          <a:xfrm>
            <a:off x="2346962" y="3091775"/>
            <a:ext cx="16947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Rank 1</a:t>
            </a:r>
            <a:endParaRPr sz="28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90" name="Google Shape;190;p19"/>
          <p:cNvSpPr txBox="1"/>
          <p:nvPr/>
        </p:nvSpPr>
        <p:spPr>
          <a:xfrm>
            <a:off x="4292288" y="3091750"/>
            <a:ext cx="16569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Rank 2</a:t>
            </a:r>
            <a:endParaRPr sz="28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91" name="Google Shape;191;p19"/>
          <p:cNvSpPr txBox="1"/>
          <p:nvPr/>
        </p:nvSpPr>
        <p:spPr>
          <a:xfrm>
            <a:off x="6191363" y="3110375"/>
            <a:ext cx="16569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Rank 3</a:t>
            </a:r>
            <a:endParaRPr sz="28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92" name="Google Shape;192;p19"/>
          <p:cNvSpPr txBox="1"/>
          <p:nvPr/>
        </p:nvSpPr>
        <p:spPr>
          <a:xfrm>
            <a:off x="8096938" y="3110375"/>
            <a:ext cx="16947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Rank 4</a:t>
            </a:r>
            <a:endParaRPr sz="28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93" name="Google Shape;193;p19"/>
          <p:cNvSpPr txBox="1"/>
          <p:nvPr/>
        </p:nvSpPr>
        <p:spPr>
          <a:xfrm>
            <a:off x="10040163" y="3110375"/>
            <a:ext cx="16947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Rank 5</a:t>
            </a:r>
            <a:endParaRPr sz="28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194" name="Google Shape;194;p19" title="match_1_Tr-no_0018.jp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438475" y="1293850"/>
            <a:ext cx="1487925" cy="180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 title="match_2_Tr-no_0241.jp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983900" y="1293850"/>
            <a:ext cx="1807225" cy="180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9" title="match_3_Tr-no_0220.jp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372548" y="1293850"/>
            <a:ext cx="1487921" cy="1807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9" title="match_4_Tr-me_0025.jpg"/>
          <p:cNvPicPr preferRelativeResize="0"/>
          <p:nvPr/>
        </p:nvPicPr>
        <p:blipFill rotWithShape="1">
          <a:blip r:embed="rId12">
            <a:alphaModFix/>
          </a:blip>
          <a:srcRect b="8313" l="5910" r="8311" t="5982"/>
          <a:stretch/>
        </p:blipFill>
        <p:spPr>
          <a:xfrm>
            <a:off x="6119450" y="1294625"/>
            <a:ext cx="1807226" cy="1805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9" title="match_5_Tr-me_0050.jpg"/>
          <p:cNvPicPr preferRelativeResize="0"/>
          <p:nvPr/>
        </p:nvPicPr>
        <p:blipFill rotWithShape="1">
          <a:blip r:embed="rId13">
            <a:alphaModFix/>
          </a:blip>
          <a:srcRect b="7368" l="12160" r="12544" t="11751"/>
          <a:stretch/>
        </p:blipFill>
        <p:spPr>
          <a:xfrm>
            <a:off x="8137413" y="1303150"/>
            <a:ext cx="1635775" cy="1807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9" title="query_Tr-no_0016.jp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400863" y="1303163"/>
            <a:ext cx="1788600" cy="178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 txBox="1"/>
          <p:nvPr/>
        </p:nvSpPr>
        <p:spPr>
          <a:xfrm>
            <a:off x="387700" y="968600"/>
            <a:ext cx="17628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Glioma</a:t>
            </a:r>
            <a:endParaRPr sz="12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01" name="Google Shape;201;p19"/>
          <p:cNvSpPr txBox="1"/>
          <p:nvPr/>
        </p:nvSpPr>
        <p:spPr>
          <a:xfrm>
            <a:off x="8088975" y="5444875"/>
            <a:ext cx="17628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Meningioma</a:t>
            </a:r>
            <a:endParaRPr sz="12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02" name="Google Shape;202;p19"/>
          <p:cNvSpPr txBox="1"/>
          <p:nvPr/>
        </p:nvSpPr>
        <p:spPr>
          <a:xfrm>
            <a:off x="366825" y="5463500"/>
            <a:ext cx="17628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No Cancer</a:t>
            </a:r>
            <a:endParaRPr sz="12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0"/>
          <p:cNvSpPr txBox="1"/>
          <p:nvPr>
            <p:ph type="title"/>
          </p:nvPr>
        </p:nvSpPr>
        <p:spPr>
          <a:xfrm>
            <a:off x="570900" y="359275"/>
            <a:ext cx="11164500" cy="738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/>
              <a:t>Result - Evaluation Metrics</a:t>
            </a:r>
            <a:endParaRPr/>
          </a:p>
        </p:txBody>
      </p:sp>
      <p:sp>
        <p:nvSpPr>
          <p:cNvPr id="208" name="Google Shape;208;p20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209" name="Google Shape;209;p20"/>
          <p:cNvGraphicFramePr/>
          <p:nvPr/>
        </p:nvGraphicFramePr>
        <p:xfrm>
          <a:off x="952500" y="1366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{359A0DCC-EACA-4E23-A09E-4218D214C90B}</a:tableStyleId>
              </a:tblPr>
              <a:tblGrid>
                <a:gridCol w="2600325"/>
                <a:gridCol w="2600325"/>
                <a:gridCol w="2600325"/>
                <a:gridCol w="2600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Methods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Precision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Recall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F1 score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Color Extraction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0.74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0.27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0.35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Texture Extraction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0.48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0.12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0.12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Concatenation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0.44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0.12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0.16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Weighted Fusion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0.80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0.30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0.39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10" name="Google Shape;210;p20"/>
          <p:cNvGraphicFramePr/>
          <p:nvPr/>
        </p:nvGraphicFramePr>
        <p:xfrm>
          <a:off x="952525" y="4194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{359A0DCC-EACA-4E23-A09E-4218D214C90B}</a:tableStyleId>
              </a:tblPr>
              <a:tblGrid>
                <a:gridCol w="2080250"/>
                <a:gridCol w="2080250"/>
                <a:gridCol w="2080250"/>
                <a:gridCol w="2080250"/>
                <a:gridCol w="20802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Domains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Color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Texture</a:t>
                      </a:r>
                      <a:endParaRPr b="1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Shape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Precision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Natural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0.4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0.76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Brain MRI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0.6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0.77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Paintings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0.3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0.85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1" name="Google Shape;211;p20"/>
          <p:cNvSpPr txBox="1"/>
          <p:nvPr>
            <p:ph type="title"/>
          </p:nvPr>
        </p:nvSpPr>
        <p:spPr>
          <a:xfrm>
            <a:off x="1614150" y="3756000"/>
            <a:ext cx="92406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66666"/>
              <a:buFont typeface="Helvetica Neue"/>
              <a:buNone/>
            </a:pPr>
            <a:r>
              <a:rPr b="0" lang="en-US" sz="2400"/>
              <a:t>Optimal Weights for Different Domains</a:t>
            </a:r>
            <a:endParaRPr b="0"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1"/>
          <p:cNvSpPr txBox="1"/>
          <p:nvPr>
            <p:ph type="title"/>
          </p:nvPr>
        </p:nvSpPr>
        <p:spPr>
          <a:xfrm>
            <a:off x="582425" y="260350"/>
            <a:ext cx="10515600" cy="679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/>
              <a:t>Conclusions</a:t>
            </a:r>
            <a:endParaRPr/>
          </a:p>
        </p:txBody>
      </p:sp>
      <p:sp>
        <p:nvSpPr>
          <p:cNvPr id="217" name="Google Shape;217;p21"/>
          <p:cNvSpPr txBox="1"/>
          <p:nvPr>
            <p:ph idx="1" type="body"/>
          </p:nvPr>
        </p:nvSpPr>
        <p:spPr>
          <a:xfrm>
            <a:off x="582425" y="1253400"/>
            <a:ext cx="11185800" cy="48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101A"/>
              </a:buClr>
              <a:buSzPts val="2100"/>
              <a:buFont typeface="Helvetica Neue"/>
              <a:buChar char="●"/>
            </a:pPr>
            <a:r>
              <a:rPr lang="en-US" sz="2100">
                <a:solidFill>
                  <a:srgbClr val="0E101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Content Based Image Retrieval system retrieving similar images across three domains: Natural, Paintings and Brain MRI.</a:t>
            </a:r>
            <a:endParaRPr sz="2100">
              <a:solidFill>
                <a:srgbClr val="0E101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0E101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101A"/>
              </a:buClr>
              <a:buSzPts val="2100"/>
              <a:buFont typeface="Helvetica Neue"/>
              <a:buChar char="●"/>
            </a:pPr>
            <a:r>
              <a:rPr lang="en-US" sz="2100">
                <a:solidFill>
                  <a:srgbClr val="0E101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Extracted multiple visual features like color, texture and shape using weights to enhance retrieval performance.</a:t>
            </a:r>
            <a:endParaRPr sz="2100">
              <a:solidFill>
                <a:srgbClr val="0E101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0E101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101A"/>
              </a:buClr>
              <a:buSzPts val="2100"/>
              <a:buFont typeface="Helvetica Neue"/>
              <a:buChar char="●"/>
            </a:pPr>
            <a:r>
              <a:rPr lang="en-US" sz="2100">
                <a:solidFill>
                  <a:srgbClr val="0E101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 single feature performs best for all domains.</a:t>
            </a:r>
            <a:endParaRPr sz="2100">
              <a:solidFill>
                <a:srgbClr val="0E101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0E101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101A"/>
              </a:buClr>
              <a:buSzPts val="2100"/>
              <a:buFont typeface="Helvetica Neue"/>
              <a:buChar char="●"/>
            </a:pPr>
            <a:r>
              <a:rPr lang="en-US" sz="2100">
                <a:solidFill>
                  <a:srgbClr val="0E101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MRI scans, system effectively detecting and matching cancer affected areas.</a:t>
            </a:r>
            <a:endParaRPr sz="2100">
              <a:solidFill>
                <a:srgbClr val="0E101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0E101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101A"/>
              </a:buClr>
              <a:buSzPts val="2100"/>
              <a:buFont typeface="Helvetica Neue"/>
              <a:buChar char="●"/>
            </a:pPr>
            <a:r>
              <a:rPr lang="en-US" sz="2100">
                <a:solidFill>
                  <a:srgbClr val="0E101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Successfully implemented an integrated pipeline including preprocessing, feature extraction, similarity computation and ranking.</a:t>
            </a:r>
            <a:endParaRPr sz="2100">
              <a:solidFill>
                <a:srgbClr val="0E101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8" name="Google Shape;218;p21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2"/>
          <p:cNvSpPr txBox="1"/>
          <p:nvPr>
            <p:ph type="title"/>
          </p:nvPr>
        </p:nvSpPr>
        <p:spPr>
          <a:xfrm>
            <a:off x="594300" y="260350"/>
            <a:ext cx="10515600" cy="83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/>
              <a:t>References</a:t>
            </a:r>
            <a:endParaRPr/>
          </a:p>
        </p:txBody>
      </p:sp>
      <p:sp>
        <p:nvSpPr>
          <p:cNvPr id="224" name="Google Shape;224;p22"/>
          <p:cNvSpPr txBox="1"/>
          <p:nvPr>
            <p:ph idx="1" type="body"/>
          </p:nvPr>
        </p:nvSpPr>
        <p:spPr>
          <a:xfrm>
            <a:off x="594300" y="1232150"/>
            <a:ext cx="10515600" cy="47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/>
              <a:t>[1] </a:t>
            </a:r>
            <a:r>
              <a:rPr lang="en-US" sz="1400"/>
              <a:t>C. Knoblock, “An example of Content-Based Image Retrieval,” </a:t>
            </a:r>
            <a:r>
              <a:rPr i="1" lang="en-US" sz="1400"/>
              <a:t>ResearchGate</a:t>
            </a:r>
            <a:r>
              <a:rPr lang="en-US" sz="1400"/>
              <a:t>, [Online image]. Available:</a:t>
            </a:r>
            <a:r>
              <a:rPr lang="en-US" sz="1400">
                <a:uFill>
                  <a:noFill/>
                </a:uFill>
                <a:hlinkClick r:id="rId3"/>
              </a:rPr>
              <a:t> </a:t>
            </a:r>
            <a:r>
              <a:rPr lang="en-US" sz="1400" u="sng">
                <a:hlinkClick r:id="rId4"/>
              </a:rPr>
              <a:t>https://www.researchgate.net/profile/Craig-Knoblock/publication/221607221/figure/fig3/AS:305582780239874@1449868020143/An-example-of-Content-Based-Image-Retrieval.png</a:t>
            </a:r>
            <a:r>
              <a:rPr lang="en-US" sz="1400"/>
              <a:t>. [Accessed: Oct. 12, 2025].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/>
              <a:t>[2]</a:t>
            </a:r>
            <a:r>
              <a:rPr lang="en-US" sz="1400"/>
              <a:t> H. Farsi and Sajad Mohamadzadeh, “Colour and texture feature‐based image retrieval by using Hadamard matrix in discrete wavelet transform,” </a:t>
            </a:r>
            <a:r>
              <a:rPr i="1" lang="en-US" sz="1400"/>
              <a:t>IET Image Processing</a:t>
            </a:r>
            <a:r>
              <a:rPr lang="en-US" sz="1400"/>
              <a:t>, vol. 7, no. 3, pp. 212–218, Apr. 2013, doi: </a:t>
            </a:r>
            <a:r>
              <a:rPr lang="en-US" sz="1400" u="sng">
                <a:hlinkClick r:id="rId5"/>
              </a:rPr>
              <a:t>https://doi.org/10.1049/iet-ipr.2012.0203</a:t>
            </a:r>
            <a:r>
              <a:rPr lang="en-US" sz="1400"/>
              <a:t>.</a:t>
            </a:r>
            <a:r>
              <a:rPr lang="en-US" sz="1400"/>
              <a:t> 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/>
              <a:t>[3] </a:t>
            </a:r>
            <a:r>
              <a:rPr lang="en-US" sz="1400"/>
              <a:t>K. Haridas and A. Selvadossthanamani, “Efficient Content Based Image Retrieval System in Visual Words, Color and Edge Directive Descriptors and Fuzzy Color and Texture Histogram,” </a:t>
            </a:r>
            <a:r>
              <a:rPr i="1" lang="en-US" sz="1400"/>
              <a:t>International Journal of Innovative Research in Computer and Communication Engineering (An ISO</a:t>
            </a:r>
            <a:r>
              <a:rPr lang="en-US" sz="1400"/>
              <a:t>, vol. 3297, 2007, Accessed: Oct. 12, 2025. [Online]. Available: </a:t>
            </a:r>
            <a:r>
              <a:rPr lang="en-US" sz="1400" u="sng">
                <a:hlinkClick r:id="rId6"/>
              </a:rPr>
              <a:t>https://www.rroij.com/open-access/efficient-content-based-image-retrievalsystem-in-visual-words-color-and-edgedirective-descriptors-and-fuzzy-color-andtexture-histogram.pdf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/>
              <a:t>[4</a:t>
            </a:r>
            <a:r>
              <a:rPr lang="en-US" sz="1400"/>
              <a:t>] M. Singha and K. Hemachandran, “Content Based Image Retrieval using Color and Texture,” </a:t>
            </a:r>
            <a:r>
              <a:rPr i="1" lang="en-US" sz="1400"/>
              <a:t>Signal &amp; Image Processing : An International Journal</a:t>
            </a:r>
            <a:r>
              <a:rPr lang="en-US" sz="1400"/>
              <a:t>, vol. 3, no. 1, pp. 39–57, Feb. 2012, doi: 10.5121/SIPIJ.2012.3104. Available: </a:t>
            </a:r>
            <a:r>
              <a:rPr lang="en-US" sz="1400" u="sng">
                <a:hlinkClick r:id="rId7"/>
              </a:rPr>
              <a:t>https://aircconline.com/sipij/V3N1/3112sipij04.pdf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/>
              <a:t>[5] </a:t>
            </a:r>
            <a:r>
              <a:rPr lang="en-US" sz="1400"/>
              <a:t>R. Kumar and N. Murthy M S, “Enhanced Content Based Image Retrieval Using Integrated Color and Texture Features,” </a:t>
            </a:r>
            <a:r>
              <a:rPr i="1" lang="en-US" sz="1400"/>
              <a:t>International Journal on Science and Technology</a:t>
            </a:r>
            <a:r>
              <a:rPr lang="en-US" sz="1400"/>
              <a:t>, vol. 16, no. 1, Jan. 2025, doi: </a:t>
            </a:r>
            <a:r>
              <a:rPr lang="en-US" sz="1400" u="sng">
                <a:hlinkClick r:id="rId8"/>
              </a:rPr>
              <a:t>https://doi.org/10.71097/ijsat.v16.i1.1418</a:t>
            </a:r>
            <a:r>
              <a:rPr lang="en-US" sz="1400"/>
              <a:t>.</a:t>
            </a:r>
            <a:endParaRPr b="1" sz="1400"/>
          </a:p>
        </p:txBody>
      </p:sp>
      <p:sp>
        <p:nvSpPr>
          <p:cNvPr id="225" name="Google Shape;225;p22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3"/>
          <p:cNvSpPr txBox="1"/>
          <p:nvPr>
            <p:ph type="title"/>
          </p:nvPr>
        </p:nvSpPr>
        <p:spPr>
          <a:xfrm>
            <a:off x="594300" y="260350"/>
            <a:ext cx="10515600" cy="83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/>
              <a:t>Dataset - References</a:t>
            </a:r>
            <a:endParaRPr/>
          </a:p>
        </p:txBody>
      </p:sp>
      <p:sp>
        <p:nvSpPr>
          <p:cNvPr id="231" name="Google Shape;231;p23"/>
          <p:cNvSpPr txBox="1"/>
          <p:nvPr>
            <p:ph idx="1" type="body"/>
          </p:nvPr>
        </p:nvSpPr>
        <p:spPr>
          <a:xfrm>
            <a:off x="594300" y="1232150"/>
            <a:ext cx="10515600" cy="47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/>
              <a:t>[6] A. Achar. “CBIR-50 Dataset,” 2023. [Online]. Available: </a:t>
            </a:r>
            <a:r>
              <a:rPr lang="en-US" sz="1400" u="sng">
                <a:solidFill>
                  <a:schemeClr val="hlink"/>
                </a:solidFill>
                <a:hlinkClick r:id="rId3"/>
              </a:rPr>
              <a:t>https://www.kaggle.com/datasets/ameyaditya/cbir-50</a:t>
            </a:r>
            <a:r>
              <a:rPr lang="en-US" sz="1400"/>
              <a:t>. [Accessed: Nov. 15, 2025]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/>
              <a:t>[7] Msoud Nickparvar. (2021). Brain Tumor MRI Dataset [Data set]. Kaggle. </a:t>
            </a:r>
            <a:r>
              <a:rPr lang="en-US" sz="1400" u="sng">
                <a:hlinkClick r:id="rId4"/>
              </a:rPr>
              <a:t>https://doi.org/10.34740/KAGGLE/DSV/2645886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/>
              <a:t>[8] AJG. “Indian Paintings Dataset,” 2023. [Online]. Available: </a:t>
            </a:r>
            <a:r>
              <a:rPr lang="en-US" sz="1400" u="sng">
                <a:solidFill>
                  <a:schemeClr val="hlink"/>
                </a:solidFill>
                <a:hlinkClick r:id="rId5"/>
              </a:rPr>
              <a:t>https://www.kaggle.com/datasets/ajg117/indian-paintings-dataset</a:t>
            </a:r>
            <a:r>
              <a:rPr lang="en-US" sz="1400"/>
              <a:t>.[Accessed: Nov. 15, 2025] 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400"/>
          </a:p>
        </p:txBody>
      </p:sp>
      <p:sp>
        <p:nvSpPr>
          <p:cNvPr id="232" name="Google Shape;232;p23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Ahmedabad University ">
      <a:dk1>
        <a:srgbClr val="000000"/>
      </a:dk1>
      <a:lt1>
        <a:srgbClr val="FFFFFF"/>
      </a:lt1>
      <a:dk2>
        <a:srgbClr val="7D1916"/>
      </a:dk2>
      <a:lt2>
        <a:srgbClr val="F2F1EE"/>
      </a:lt2>
      <a:accent1>
        <a:srgbClr val="894C00"/>
      </a:accent1>
      <a:accent2>
        <a:srgbClr val="7F4700"/>
      </a:accent2>
      <a:accent3>
        <a:srgbClr val="A5A5A5"/>
      </a:accent3>
      <a:accent4>
        <a:srgbClr val="BC933E"/>
      </a:accent4>
      <a:accent5>
        <a:srgbClr val="000000"/>
      </a:accent5>
      <a:accent6>
        <a:srgbClr val="FEFFFF"/>
      </a:accent6>
      <a:hlink>
        <a:srgbClr val="000000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